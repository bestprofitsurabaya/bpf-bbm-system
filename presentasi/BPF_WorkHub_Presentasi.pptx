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MATERI PRESENTASI · DEMO APLIKASI</a:t>
            </a:r>
          </a:p>
        </p:txBody>
      </p:sp>
      <p:pic>
        <p:nvPicPr>
          <p:cNvPr id="5" name="Picture 4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46304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0F172A"/>
                </a:solidFill>
              </a:rPr>
              <a:t>BPF WorkHub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64748B"/>
                </a:solidFill>
              </a:rPr>
              <a:t>Satu aplikasi untuk semua urusan armada, BBM, kasbon, log perjalanan, appointment, dan air minum.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7472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7490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8912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9204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Klaim BBM · Kasbon · Trip · Offline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188124929820" y="347472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188124701220" y="37490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88124701220" y="438912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88124701220" y="489204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Pengajuan air minum + foto bukti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376250682600" y="347472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-376250454000" y="37490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376250454000" y="438912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GA &amp;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376250454000" y="489204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Verifikasi, persetujuan, rekap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564376435380" y="347472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-564376206780" y="37490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564376206780" y="438912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Marketing &amp; Chief Driver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564376206780" y="489204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Appointment &amp; pembagian tugas</a:t>
            </a:r>
          </a:p>
        </p:txBody>
      </p:sp>
      <p:pic>
        <p:nvPicPr>
          <p:cNvPr id="24" name="Picture 23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PEMBUKA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Cerita dari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sz="1900">
                <a:solidFill>
                  <a:srgbClr val="64748B"/>
                </a:solidFill>
              </a:rPr>
              <a:t>→  Sopir bayar BBM pakai uang sendiri — lalu menunggu berhari-hari uangnya diganti.</a:t>
            </a:r>
          </a:p>
          <a:p>
            <a:pPr>
              <a:lnSpc>
                <a:spcPct val="160000"/>
              </a:lnSpc>
            </a:pPr>
            <a:r>
              <a:rPr sz="1900">
                <a:solidFill>
                  <a:srgbClr val="64748B"/>
                </a:solidFill>
              </a:rPr>
              <a:t>→  Finance merekap struk manual di Excel — sering bingung “uang ini untuk yang mana?”.</a:t>
            </a:r>
          </a:p>
          <a:p>
            <a:pPr>
              <a:lnSpc>
                <a:spcPct val="160000"/>
              </a:lnSpc>
            </a:pPr>
            <a:r>
              <a:rPr sz="1900">
                <a:solidFill>
                  <a:srgbClr val="64748B"/>
                </a:solidFill>
              </a:rPr>
              <a:t>→  OB beli galon air minum — tidak ada bukti resmi kapan, berapa, dari siapa.</a:t>
            </a:r>
          </a:p>
          <a:p>
            <a:pPr>
              <a:lnSpc>
                <a:spcPct val="160000"/>
              </a:lnSpc>
            </a:pPr>
            <a:r>
              <a:rPr sz="1900">
                <a:solidFill>
                  <a:srgbClr val="64748B"/>
                </a:solidFill>
              </a:rPr>
              <a:t>→  Laporan perjalanan hilang atau telat, tidak ada jejak siapa yang mengerjakan apa.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💡  Kunci: dari “catat di kertas, rekap di Excel” menjadi satu aplikasi, semua tercatat otomatis, semua bisa diaudit.</a:t>
            </a:r>
          </a:p>
        </p:txBody>
      </p:sp>
      <p:pic>
        <p:nvPicPr>
          <p:cNvPr id="7" name="Picture 6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GAMBARAN BESAR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Satu Aplikasi, Semua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</a:rPr>
              <a:t>Setiap orang login dengan Username + PIN 6 digit dan langsung masuk ke halamannya masing-masing.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4884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675120"/>
              </a:tblGrid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Peran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Langsung dibawa ke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Dashboard Admin — seluruh operasi + manajemen user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Dashboard GA — klaim, kasbon, trip, verifikasi anomali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Finance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Dashboard Finance — rekap air minum &amp; kasbon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Driver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Aplikasi Driver (PWA) — BBM, kasbon, trip, rapor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OB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Halaman Air Minum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Marketing / Chief Driver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Marketing Hub / Board Chief Driver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🔒  Kunci: satu aplikasi untuk semua — tapi setiap orang hanya melihat dunia yang menjadi tugasnya (least privilege).</a:t>
            </a:r>
          </a:p>
        </p:txBody>
      </p:sp>
      <p:pic>
        <p:nvPicPr>
          <p:cNvPr id="8" name="Picture 7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UTAMA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Air Minum: OB → Finance →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1. OB mengisi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Tanggal, jumlah, jenis (Gelas/Botol/Galon), merk + foto sebelum &amp; sesudah</a:t>
            </a:r>
          </a:p>
        </p:txBody>
      </p:sp>
      <p:sp>
        <p:nvSpPr>
          <p:cNvPr id="8" name="Rectangle 7"/>
          <p:cNvSpPr/>
          <p:nvPr/>
        </p:nvSpPr>
        <p:spPr>
          <a:xfrm>
            <a:off x="-167220869520" y="182880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67220640920" y="210312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67220640920" y="274320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2. Finance verifikasi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67220640920" y="324612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Periksa bukti, isi remark &amp; catatan — semua terekam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334442562000" y="182880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334442333400" y="210312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34442333400" y="274320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3. PDF tanda terima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34442333400" y="324612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Ditandatangani Finance (penyerah) &amp; GA (penerima)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600">
                <a:solidFill>
                  <a:srgbClr val="64748B"/>
                </a:solidFill>
              </a:rPr>
              <a:t>→  Nama OB asli: Faisol, Febri, Edwin — masing-masing hanya melihat pengajuannya sendiri.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64748B"/>
                </a:solidFill>
              </a:rPr>
              <a:t>→  Tanpa foto bukti, pengajuan tidak bisa diproses.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🏁  Kunci: dari pembelian galon sampai tanda terima resmi — tercatat, terbukti, bisa diaudit, tanpa kertas.</a:t>
            </a:r>
          </a:p>
        </p:txBody>
      </p:sp>
      <p:pic>
        <p:nvPicPr>
          <p:cNvPr id="19" name="Picture 18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UTAMA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Dashboard per Peran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406640"/>
              </a:tblGrid>
              <a:tr h="662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Halaman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Yang bisa dilakukan langsung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Dashboard 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✅ Approve · ✕ Tolak klaim · 🛡 Verifikasi anomali · kasbon DRAFT · trip pending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Dashboard Finance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Rekap air minum per OB / jenis / merk · antrean verifikasi · kasbon · ⬇ Export CSV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Dashboard 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Ringkasan seluruh operasi + Users, Settings, Audit Log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" y="42976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600">
                <a:solidFill>
                  <a:srgbClr val="64748B"/>
                </a:solidFill>
              </a:rPr>
              <a:t>→  Alasan penolakan wajib diisi — untuk jejak audit.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64748B"/>
                </a:solidFill>
              </a:rPr>
              <a:t>→  Klaim bertanda ⚠️ melewati verifikasi anomali khusus.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🎯  Kunci: pekerjaan selesai dari satu halaman — tidak berpindah-pindah menu.</a:t>
            </a:r>
          </a:p>
        </p:txBody>
      </p:sp>
      <p:pic>
        <p:nvPicPr>
          <p:cNvPr id="8" name="Picture 7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UTAMA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Klaim BBM &amp; Kasbon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</a:rPr>
              <a:t>Alur relay: Driver → GA → Finance → LPJ → Selesai 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48840"/>
          <a:ext cx="10515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651760"/>
                <a:gridCol w="2743200"/>
              </a:tblGrid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Tahap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Siapa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Ajukan klaim + foto struk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Driver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Draft / Pending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Setujui &amp; serahkan dana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Disetujui 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Cairkan dana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Finance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Diserahkan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Isi LPJ (pertanggungjawaban)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Driver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LPJ Diajukan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Verifikasi LPJ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Selesai 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🔢  Kode unik: kasbon Rp 100.000 otomatis menjadi Rp 100.023 — nominal persis inilah bukti “uang ini untuk kasbon siapa”.</a:t>
            </a:r>
          </a:p>
        </p:txBody>
      </p:sp>
      <p:pic>
        <p:nvPicPr>
          <p:cNvPr id="8" name="Picture 7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UTAMA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Realtime &amp; Notifikasi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9456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3464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Toast &amp; Lonceng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3756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Pengajuan baru muncul seketika — ikon per jenis (klaim, trip, air minum, appointment)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-167220869520" y="192024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67220640920" y="219456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67220640920" y="283464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Auto-refresh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67220640920" y="333756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Antrean GA/Finance ter-refresh sendiri tanpa muat ulang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334442562000" y="192024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334442333400" y="219456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34442333400" y="283464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Indikator hidup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34442333400" y="333756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“⚡ Realtime” di pojok — jika putus tampil merah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📡  Kunci: aplikasi ini “hidup” — begitu ada yang mengajukan, yang berwenang langsung tahu, bukan besok pagi.</a:t>
            </a:r>
          </a:p>
        </p:txBody>
      </p:sp>
      <p:pic>
        <p:nvPicPr>
          <p:cNvPr id="18" name="Picture 17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UTAMA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Driver: Offline di Jalan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sz="1900">
                <a:solidFill>
                  <a:srgbClr val="64748B"/>
                </a:solidFill>
              </a:rPr>
              <a:t>→  Login PIN — identitas menempel otomatis di semua laporan (tidak bisa mengaku-ngaku).</a:t>
            </a:r>
          </a:p>
          <a:p>
            <a:pPr>
              <a:lnSpc>
                <a:spcPct val="170000"/>
              </a:lnSpc>
            </a:pPr>
            <a:r>
              <a:rPr sz="1900">
                <a:solidFill>
                  <a:srgbClr val="64748B"/>
                </a:solidFill>
              </a:rPr>
              <a:t>→  4 tab: ⛽ BBM · 💰 Kasbon · 🗺️ Trip · 📊 Rapor.</a:t>
            </a:r>
          </a:p>
          <a:p>
            <a:pPr>
              <a:lnSpc>
                <a:spcPct val="170000"/>
              </a:lnSpc>
            </a:pPr>
            <a:r>
              <a:rPr sz="1900">
                <a:solidFill>
                  <a:srgbClr val="64748B"/>
                </a:solidFill>
              </a:rPr>
              <a:t>→  Offline-first: data tersimpan di HP, terkirim otomatis saat sinyal kembali + tombol 🔄 Sinkron.</a:t>
            </a:r>
          </a:p>
          <a:p>
            <a:pPr>
              <a:lnSpc>
                <a:spcPct val="170000"/>
              </a:lnSpc>
            </a:pPr>
            <a:r>
              <a:rPr sz="1900">
                <a:solidFill>
                  <a:srgbClr val="64748B"/>
                </a:solidFill>
              </a:rPr>
              <a:t>→  Rapor performa: masukkan nopol → HEMAT / CUKUP / BOROS.</a:t>
            </a:r>
          </a:p>
          <a:p>
            <a:pPr>
              <a:lnSpc>
                <a:spcPct val="170000"/>
              </a:lnSpc>
            </a:pPr>
            <a:r>
              <a:rPr sz="1900">
                <a:solidFill>
                  <a:srgbClr val="64748B"/>
                </a:solidFill>
              </a:rPr>
              <a:t>→  Bisa dipasang di layar utama HP seperti aplikasi biasa (PWA).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🌐  Kunci: sopir di jalan tetap produktif — sinyal hilang bukan alasan data hilang.</a:t>
            </a:r>
          </a:p>
        </p:txBody>
      </p:sp>
      <p:pic>
        <p:nvPicPr>
          <p:cNvPr id="7" name="Picture 6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PENDUKUNG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Marketing &amp; Chief Driver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-125413846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-12541430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-12541430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Marketing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-125414303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Input appointment, pantau status, lihat hasil kunjungan — data penjualan tersaji otomatis</a:t>
            </a:r>
          </a:p>
        </p:txBody>
      </p:sp>
      <p:sp>
        <p:nvSpPr>
          <p:cNvPr id="8" name="Rectangle 7"/>
          <p:cNvSpPr/>
          <p:nvPr/>
        </p:nvSpPr>
        <p:spPr>
          <a:xfrm>
            <a:off x="-125412748920" y="2011680"/>
            <a:ext cx="-125413846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25412520320" y="2286000"/>
            <a:ext cx="-12541430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25412520320" y="2926080"/>
            <a:ext cx="-12541430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Chief 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25412520320" y="3429000"/>
            <a:ext cx="-125414303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Papan pembagian tugas: kendaraan belum ditugaskan, beban tiap driver, unduh rekap harian Excel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🗂️  Kunci: bukan hanya BBM — penjadwalan kunjungan &amp; pembagian sopir juga satu pintu.</a:t>
            </a:r>
          </a:p>
        </p:txBody>
      </p:sp>
      <p:pic>
        <p:nvPicPr>
          <p:cNvPr id="14" name="Picture 13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KEPERCAYAAN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Keamanan &amp; Tata Kelola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Aspek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Jawaban singkat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Login PIN per orang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Tidak ada akun bersama — semua aksi tercatat siapa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Role-based access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GA tak bisa buka rekap finance; OB tak bisa lihat klaim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Audit Log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Semua aksi penting tercatat &amp; bisa difilter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Anti peretasan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Percobaan login dibatasi · token CSRF · unggahan diperiksa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Kerahasiaan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Sesi aman (HTTPS) · cookie ketat · foto bukti terlindungi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🛡️  Kunci: keamanan berlapis — dari PIN pengguna sampai jejak audit setiap transaksi.</a:t>
            </a:r>
          </a:p>
        </p:txBody>
      </p:sp>
      <p:pic>
        <p:nvPicPr>
          <p:cNvPr id="7" name="Picture 6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KREDIBILITAS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Kualitas &amp; Kepatuhan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9456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346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179 uji otomatis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3756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97 backend + 82 frontend — setiap perubahan diuji</a:t>
            </a:r>
          </a:p>
        </p:txBody>
      </p:sp>
      <p:sp>
        <p:nvSpPr>
          <p:cNvPr id="8" name="Rectangle 7"/>
          <p:cNvSpPr/>
          <p:nvPr/>
        </p:nvSpPr>
        <p:spPr>
          <a:xfrm>
            <a:off x="-188124929820" y="192024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88124701220" y="219456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8124701220" y="28346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E2E di produksi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88124701220" y="333756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Alur kritis diverifikasi di lingkungan nyata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376250682600" y="192024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376250454000" y="219456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76250454000" y="28346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Standar ISO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76250454000" y="333756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27001 (keamanan) · 9241-11 (UX) · 9001 (mutu)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564376435380" y="192024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-564376206780" y="219456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564376206780" y="28346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Aksesibilitas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564376206780" y="333756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Fokus keyboard, kontras ≥ 4,5:1, mode kontras tinggi &amp; gelap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🏆  Kunci: bukan prototipe — sistem yang diuji, diamankan, dan siap dipakai harian.</a:t>
            </a:r>
          </a:p>
        </p:txBody>
      </p:sp>
      <p:pic>
        <p:nvPicPr>
          <p:cNvPr id="22" name="Picture 21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Rangkuman &amp; Langkah Berikutnya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2563EB"/>
                </a:solidFill>
              </a:rPr>
              <a:t>1  ·  0  · 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</a:rPr>
              <a:t>1 aplikasi untuk semua peran · 0 kertas arsip manual · 100% tercatat &amp; bisa diaudit — setiap rupiah, setiap galon, setiap perjalanan.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700">
                <a:solidFill>
                  <a:srgbClr val="64748B"/>
                </a:solidFill>
              </a:rPr>
              <a:t>→  Langkah berikutnya: lengkapi data master (armada, driver, merk), pelatihan singkat per peran, dan prioritas pengembangan berikutnya.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🙏  Terima kasih. Siap menjawab pertanyaan dan mendampingi penerapan.</a:t>
            </a:r>
          </a:p>
        </p:txBody>
      </p:sp>
      <p:pic>
        <p:nvPicPr>
          <p:cNvPr id="11" name="Picture 10" descr="bpf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5508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