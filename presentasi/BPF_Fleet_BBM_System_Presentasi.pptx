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</a:rPr>
              <a:t>MATERI PRESENTASI · DEMO APLIKASI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0F172A"/>
                </a:solidFill>
              </a:rPr>
              <a:t>BPF Fleet &amp; BBM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64748B"/>
                </a:solidFill>
              </a:rPr>
              <a:t>Satu aplikasi untuk semua urusan armada, BBM, kasbon, log perjalanan, appointment, dan air minum.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474720"/>
            <a:ext cx="-1881260271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749040"/>
            <a:ext cx="-1881264843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0F172A"/>
                </a:solidFill>
              </a:rPr>
              <a:t>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389120"/>
            <a:ext cx="-1881264843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</a:rPr>
              <a:t>Driver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892040"/>
            <a:ext cx="-1881264843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Klaim BBM · Kasbon · Trip · Offline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-188124929820" y="3474720"/>
            <a:ext cx="-1881260271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-188124701220" y="3749040"/>
            <a:ext cx="-1881264843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0F172A"/>
                </a:solidFill>
              </a:rPr>
              <a:t>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88124701220" y="4389120"/>
            <a:ext cx="-1881264843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</a:rPr>
              <a:t>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188124701220" y="4892040"/>
            <a:ext cx="-1881264843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Pengajuan air minum + foto bukti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-376250682600" y="3474720"/>
            <a:ext cx="-1881260271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-376250454000" y="3749040"/>
            <a:ext cx="-1881264843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0F172A"/>
                </a:solidFill>
              </a:rPr>
              <a:t>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376250454000" y="4389120"/>
            <a:ext cx="-1881264843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</a:rPr>
              <a:t>GA &amp; Finance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376250454000" y="4892040"/>
            <a:ext cx="-1881264843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Verifikasi, persetujuan, rekap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-564376435380" y="3474720"/>
            <a:ext cx="-1881260271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-564376206780" y="3749040"/>
            <a:ext cx="-1881264843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0F172A"/>
                </a:solidFill>
              </a:rPr>
              <a:t>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564376206780" y="4389120"/>
            <a:ext cx="-1881264843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</a:rPr>
              <a:t>Marketing &amp; Chief Driver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564376206780" y="4892040"/>
            <a:ext cx="-1881264843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Appointment &amp; pembagian tugas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</a:rPr>
              <a:t>PEMBUKA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</a:rPr>
              <a:t>Cerita dari Lapangan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sz="1900">
                <a:solidFill>
                  <a:srgbClr val="64748B"/>
                </a:solidFill>
              </a:rPr>
              <a:t>→  Sopir bayar BBM pakai uang sendiri — lalu menunggu berhari-hari uangnya diganti.</a:t>
            </a:r>
          </a:p>
          <a:p>
            <a:pPr>
              <a:lnSpc>
                <a:spcPct val="160000"/>
              </a:lnSpc>
            </a:pPr>
            <a:r>
              <a:rPr sz="1900">
                <a:solidFill>
                  <a:srgbClr val="64748B"/>
                </a:solidFill>
              </a:rPr>
              <a:t>→  Finance merekap struk manual di Excel — sering bingung “uang ini untuk yang mana?”.</a:t>
            </a:r>
          </a:p>
          <a:p>
            <a:pPr>
              <a:lnSpc>
                <a:spcPct val="160000"/>
              </a:lnSpc>
            </a:pPr>
            <a:r>
              <a:rPr sz="1900">
                <a:solidFill>
                  <a:srgbClr val="64748B"/>
                </a:solidFill>
              </a:rPr>
              <a:t>→  OB beli galon air minum — tidak ada bukti resmi kapan, berapa, dari siapa.</a:t>
            </a:r>
          </a:p>
          <a:p>
            <a:pPr>
              <a:lnSpc>
                <a:spcPct val="160000"/>
              </a:lnSpc>
            </a:pPr>
            <a:r>
              <a:rPr sz="1900">
                <a:solidFill>
                  <a:srgbClr val="64748B"/>
                </a:solidFill>
              </a:rPr>
              <a:t>→  Laporan perjalanan hilang atau telat, tidak ada jejak siapa yang mengerjakan apa.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55955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</a:rPr>
              <a:t>💡  Kunci: dari “catat di kertas, rekap di Excel” menjadi satu aplikasi, semua tercatat otomatis, semua bisa diaudit.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</a:rPr>
              <a:t>GAMBARAN BESAR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</a:rPr>
              <a:t>Satu Aplikasi, Semua Peran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64748B"/>
                </a:solidFill>
              </a:rPr>
              <a:t>Setiap orang login dengan Username + PIN 6 digit dan langsung masuk ke halamannya masing-masing.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14884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6675120"/>
              </a:tblGrid>
              <a:tr h="4180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2563EB"/>
                          </a:solidFill>
                        </a:rPr>
                        <a:t>Peran</a:t>
                      </a:r>
                    </a:p>
                  </a:txBody>
                  <a:tcPr marL="73152" marR="73152" marT="27432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2563EB"/>
                          </a:solidFill>
                        </a:rPr>
                        <a:t>Langsung dibawa ke</a:t>
                      </a:r>
                    </a:p>
                  </a:txBody>
                  <a:tcPr marL="73152" marR="73152" marT="27432" marB="27432" anchor="ctr">
                    <a:solidFill>
                      <a:srgbClr val="EFF6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Admin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Dashboard Admin — seluruh operasi + manajemen user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GA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Dashboard GA — klaim, kasbon, trip, verifikasi anomali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Finance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Dashboard Finance — rekap air minum &amp; kasbon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Driver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Aplikasi Driver (PWA) — BBM, kasbon, trip, rapor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OB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Halaman Air Minum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Marketing / Chief Driver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Marketing Hub / Board Chief Driver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55955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</a:rPr>
              <a:t>🔒  Kunci: satu aplikasi untuk semua — tapi setiap orang hanya melihat dunia yang menjadi tugasnya (least privilege).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</a:rPr>
              <a:t>DEMO UTAMA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</a:rPr>
              <a:t>Air Minum: OB → Finance → PDF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-167221966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-16722242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0F172A"/>
                </a:solidFill>
              </a:rPr>
              <a:t>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743200"/>
            <a:ext cx="-16722242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</a:rPr>
              <a:t>1. OB mengisi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246120"/>
            <a:ext cx="-167222424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Tanggal, jumlah, jenis (Gelas/Botol/Galon), merk + foto sebelum &amp; sesudah</a:t>
            </a:r>
          </a:p>
        </p:txBody>
      </p:sp>
      <p:sp>
        <p:nvSpPr>
          <p:cNvPr id="8" name="Rectangle 7"/>
          <p:cNvSpPr/>
          <p:nvPr/>
        </p:nvSpPr>
        <p:spPr>
          <a:xfrm>
            <a:off x="-167220869520" y="1828800"/>
            <a:ext cx="-167221966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167220640920" y="2103120"/>
            <a:ext cx="-16722242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0F172A"/>
                </a:solidFill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67220640920" y="2743200"/>
            <a:ext cx="-16722242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</a:rPr>
              <a:t>2. Finance verifikasi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67220640920" y="3246120"/>
            <a:ext cx="-167222424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Periksa bukti, isi remark &amp; catatan — semua terekam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-334442562000" y="1828800"/>
            <a:ext cx="-167221966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-334442333400" y="2103120"/>
            <a:ext cx="-16722242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0F172A"/>
                </a:solidFill>
              </a:rPr>
              <a:t>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334442333400" y="2743200"/>
            <a:ext cx="-16722242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</a:rPr>
              <a:t>3. PDF tanda terima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334442333400" y="3246120"/>
            <a:ext cx="-167222424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Ditandatangani Finance (penyerah) &amp; GA (penerima)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16052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600">
                <a:solidFill>
                  <a:srgbClr val="64748B"/>
                </a:solidFill>
              </a:rPr>
              <a:t>→  Nama OB asli: Faisol, Febri, Edwin — masing-masing hanya melihat pengajuannya sendiri.</a:t>
            </a:r>
          </a:p>
          <a:p>
            <a:pPr>
              <a:lnSpc>
                <a:spcPct val="125000"/>
              </a:lnSpc>
            </a:pPr>
            <a:r>
              <a:rPr sz="1600">
                <a:solidFill>
                  <a:srgbClr val="64748B"/>
                </a:solidFill>
              </a:rPr>
              <a:t>→  Tanpa foto bukti, pengajuan tidak bisa diproses.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55955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</a:rPr>
              <a:t>🏁  Kunci: dari pembelian galon sampai tanda terima resmi — tercatat, terbukti, bisa diaudit, tanpa kertas.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</a:rPr>
              <a:t>DEMO UTAMA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</a:rPr>
              <a:t>Dashboard per Peran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105156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406640"/>
              </a:tblGrid>
              <a:tr h="662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2563EB"/>
                          </a:solidFill>
                        </a:rPr>
                        <a:t>Halaman</a:t>
                      </a:r>
                    </a:p>
                  </a:txBody>
                  <a:tcPr marL="73152" marR="73152" marT="27432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2563EB"/>
                          </a:solidFill>
                        </a:rPr>
                        <a:t>Yang bisa dilakukan langsung</a:t>
                      </a:r>
                    </a:p>
                  </a:txBody>
                  <a:tcPr marL="73152" marR="73152" marT="27432" marB="27432" anchor="ctr">
                    <a:solidFill>
                      <a:srgbClr val="EFF6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Dashboard GA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✅ Approve · ✕ Tolak klaim · 🛡 Verifikasi anomali · kasbon DRAFT · trip pending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Dashboard Finance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Rekap air minum per OB / jenis / merk · antrean verifikasi · kasbon · ⬇ Export CSV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Dashboard Admin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Ringkasan seluruh operasi + Users, Settings, Audit Log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05840" y="429768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600">
                <a:solidFill>
                  <a:srgbClr val="64748B"/>
                </a:solidFill>
              </a:rPr>
              <a:t>→  Alasan penolakan wajib diisi — untuk jejak audit.</a:t>
            </a:r>
          </a:p>
          <a:p>
            <a:pPr>
              <a:lnSpc>
                <a:spcPct val="125000"/>
              </a:lnSpc>
            </a:pPr>
            <a:r>
              <a:rPr sz="1600">
                <a:solidFill>
                  <a:srgbClr val="64748B"/>
                </a:solidFill>
              </a:rPr>
              <a:t>→  Klaim bertanda ⚠️ melewati verifikasi anomali khusus.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55955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</a:rPr>
              <a:t>🎯  Kunci: pekerjaan selesai dari satu halaman — tidak berpindah-pindah menu.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</a:rPr>
              <a:t>DEMO UTAMA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</a:rPr>
              <a:t>Klaim BBM &amp; Kasbon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64748B"/>
                </a:solidFill>
              </a:rPr>
              <a:t>Alur relay: Driver → GA → Finance → LPJ → Selesai 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148840"/>
          <a:ext cx="105156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2651760"/>
                <a:gridCol w="2743200"/>
              </a:tblGrid>
              <a:tr h="472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2563EB"/>
                          </a:solidFill>
                        </a:rPr>
                        <a:t>Tahap</a:t>
                      </a:r>
                    </a:p>
                  </a:txBody>
                  <a:tcPr marL="73152" marR="73152" marT="27432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2563EB"/>
                          </a:solidFill>
                        </a:rPr>
                        <a:t>Siapa</a:t>
                      </a:r>
                    </a:p>
                  </a:txBody>
                  <a:tcPr marL="73152" marR="73152" marT="27432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2563EB"/>
                          </a:solidFill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EFF6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Ajukan klaim + foto struk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Driver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Draft / Pending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Setujui &amp; serahkan dana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GA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Disetujui GA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Cairkan dana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Finance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Diserahkan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Isi LPJ (pertanggungjawaban)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Driver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LPJ Diajukan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Verifikasi LPJ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GA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Selesai 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55955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</a:rPr>
              <a:t>🔢  Kode unik: kasbon Rp 100.000 otomatis menjadi Rp 100.023 — nominal persis inilah bukti “uang ini untuk kasbon siapa”.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</a:rPr>
              <a:t>DEMO UTAMA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</a:rPr>
              <a:t>Realtime &amp; Notifikasi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-167221966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94560"/>
            <a:ext cx="-16722242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0F172A"/>
                </a:solidFill>
              </a:rPr>
              <a:t>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834640"/>
            <a:ext cx="-16722242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</a:rPr>
              <a:t>Toast &amp; Lonceng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337560"/>
            <a:ext cx="-167222424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Pengajuan baru muncul seketika — ikon per jenis (klaim, trip, air minum, appointment)</a:t>
            </a:r>
          </a:p>
        </p:txBody>
      </p:sp>
      <p:sp>
        <p:nvSpPr>
          <p:cNvPr id="8" name="Rectangle 7"/>
          <p:cNvSpPr/>
          <p:nvPr/>
        </p:nvSpPr>
        <p:spPr>
          <a:xfrm>
            <a:off x="-167220869520" y="1920240"/>
            <a:ext cx="-167221966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167220640920" y="2194560"/>
            <a:ext cx="-16722242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0F172A"/>
                </a:solidFill>
              </a:rPr>
              <a:t>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67220640920" y="2834640"/>
            <a:ext cx="-16722242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</a:rPr>
              <a:t>Auto-refresh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67220640920" y="3337560"/>
            <a:ext cx="-167222424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Antrean GA/Finance ter-refresh sendiri tanpa muat ulang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-334442562000" y="1920240"/>
            <a:ext cx="-167221966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-334442333400" y="2194560"/>
            <a:ext cx="-16722242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0F172A"/>
                </a:solidFill>
              </a:rPr>
              <a:t>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334442333400" y="2834640"/>
            <a:ext cx="-16722242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</a:rPr>
              <a:t>Indikator hidup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334442333400" y="3337560"/>
            <a:ext cx="-167222424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“⚡ Realtime” di pojok — jika putus tampil merah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</a:rPr>
              <a:t>📡  Kunci: aplikasi ini “hidup” — begitu ada yang mengajukan, yang berwenang langsung tahu, bukan besok pagi.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</a:rPr>
              <a:t>DEMO UTAMA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</a:rPr>
              <a:t>Driver: Offline di Jalan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70000"/>
              </a:lnSpc>
            </a:pPr>
            <a:r>
              <a:rPr sz="1900">
                <a:solidFill>
                  <a:srgbClr val="64748B"/>
                </a:solidFill>
              </a:rPr>
              <a:t>→  Login PIN — identitas menempel otomatis di semua laporan (tidak bisa mengaku-ngaku).</a:t>
            </a:r>
          </a:p>
          <a:p>
            <a:pPr>
              <a:lnSpc>
                <a:spcPct val="170000"/>
              </a:lnSpc>
            </a:pPr>
            <a:r>
              <a:rPr sz="1900">
                <a:solidFill>
                  <a:srgbClr val="64748B"/>
                </a:solidFill>
              </a:rPr>
              <a:t>→  4 tab: ⛽ BBM · 💰 Kasbon · 🗺️ Trip · 📊 Rapor.</a:t>
            </a:r>
          </a:p>
          <a:p>
            <a:pPr>
              <a:lnSpc>
                <a:spcPct val="170000"/>
              </a:lnSpc>
            </a:pPr>
            <a:r>
              <a:rPr sz="1900">
                <a:solidFill>
                  <a:srgbClr val="64748B"/>
                </a:solidFill>
              </a:rPr>
              <a:t>→  Offline-first: data tersimpan di HP, terkirim otomatis saat sinyal kembali + tombol 🔄 Sinkron.</a:t>
            </a:r>
          </a:p>
          <a:p>
            <a:pPr>
              <a:lnSpc>
                <a:spcPct val="170000"/>
              </a:lnSpc>
            </a:pPr>
            <a:r>
              <a:rPr sz="1900">
                <a:solidFill>
                  <a:srgbClr val="64748B"/>
                </a:solidFill>
              </a:rPr>
              <a:t>→  Rapor performa: masukkan nopol → HEMAT / CUKUP / BOROS.</a:t>
            </a:r>
          </a:p>
          <a:p>
            <a:pPr>
              <a:lnSpc>
                <a:spcPct val="170000"/>
              </a:lnSpc>
            </a:pPr>
            <a:r>
              <a:rPr sz="1900">
                <a:solidFill>
                  <a:srgbClr val="64748B"/>
                </a:solidFill>
              </a:rPr>
              <a:t>→  Bisa dipasang di layar utama HP seperti aplikasi biasa (PWA).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55955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</a:rPr>
              <a:t>🌐  Kunci: sopir di jalan tetap produktif — sinyal hilang bukan alasan data hilang.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</a:rPr>
              <a:t>DEMO PENDUKUNG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</a:rPr>
              <a:t>Marketing &amp; Chief Driver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11680"/>
            <a:ext cx="-125413846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286000"/>
            <a:ext cx="-12541430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0F172A"/>
                </a:solidFill>
              </a:rPr>
              <a:t>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26080"/>
            <a:ext cx="-12541430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</a:rPr>
              <a:t>Marketing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429000"/>
            <a:ext cx="-125414303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Input appointment, pantau status, lihat hasil kunjungan — data penjualan tersaji otomatis</a:t>
            </a:r>
          </a:p>
        </p:txBody>
      </p:sp>
      <p:sp>
        <p:nvSpPr>
          <p:cNvPr id="8" name="Rectangle 7"/>
          <p:cNvSpPr/>
          <p:nvPr/>
        </p:nvSpPr>
        <p:spPr>
          <a:xfrm>
            <a:off x="-125412748920" y="2011680"/>
            <a:ext cx="-125413846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125412520320" y="2286000"/>
            <a:ext cx="-12541430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0F172A"/>
                </a:solidFill>
              </a:rPr>
              <a:t>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25412520320" y="2926080"/>
            <a:ext cx="-12541430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</a:rPr>
              <a:t>Chief Driver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25412520320" y="3429000"/>
            <a:ext cx="-125414303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Papan pembagian tugas: kendaraan belum ditugaskan, beban tiap driver, unduh rekap harian Excel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55955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</a:rPr>
              <a:t>🗂️  Kunci: bukan hanya BBM — penjadwalan kunjungan &amp; pembagian sopir juga satu pintu.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</a:rPr>
              <a:t>KEPERCAYAAN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</a:rPr>
              <a:t>Keamanan &amp; Tata Kelola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10515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6858000"/>
              </a:tblGrid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2563EB"/>
                          </a:solidFill>
                        </a:rPr>
                        <a:t>Aspek</a:t>
                      </a:r>
                    </a:p>
                  </a:txBody>
                  <a:tcPr marL="73152" marR="73152" marT="27432" marB="27432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2563EB"/>
                          </a:solidFill>
                        </a:rPr>
                        <a:t>Jawaban singkat</a:t>
                      </a:r>
                    </a:p>
                  </a:txBody>
                  <a:tcPr marL="73152" marR="73152" marT="27432" marB="27432" anchor="ctr">
                    <a:solidFill>
                      <a:srgbClr val="EFF6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Login PIN per orang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Tidak ada akun bersama — semua aksi tercatat siapa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Role-based access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GA tak bisa buka rekap finance; OB tak bisa lihat klaim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Audit Log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Semua aksi penting tercatat &amp; bisa difilter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Anti peretasan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Percobaan login dibatasi · token CSRF · unggahan diperiksa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0F172A"/>
                          </a:solidFill>
                        </a:rPr>
                        <a:t>Kerahasiaan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64748B"/>
                          </a:solidFill>
                        </a:rPr>
                        <a:t>Sesi aman (HTTPS) · cookie ketat · foto bukti terlindungi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55955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</a:rPr>
              <a:t>🛡️  Kunci: keamanan berlapis — dari PIN pengguna sampai jejak audit setiap transaksi.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</a:rPr>
              <a:t>KREDIBILITAS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</a:rPr>
              <a:t>Kualitas &amp; Kepatuhan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-1881260271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94560"/>
            <a:ext cx="-1881264843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0F172A"/>
                </a:solidFill>
              </a:rP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834640"/>
            <a:ext cx="-1881264843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</a:rPr>
              <a:t>179 uji otomatis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337560"/>
            <a:ext cx="-1881264843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97 backend + 82 frontend — setiap perubahan diuji</a:t>
            </a:r>
          </a:p>
        </p:txBody>
      </p:sp>
      <p:sp>
        <p:nvSpPr>
          <p:cNvPr id="8" name="Rectangle 7"/>
          <p:cNvSpPr/>
          <p:nvPr/>
        </p:nvSpPr>
        <p:spPr>
          <a:xfrm>
            <a:off x="-188124929820" y="1920240"/>
            <a:ext cx="-1881260271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188124701220" y="2194560"/>
            <a:ext cx="-1881264843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0F172A"/>
                </a:solidFill>
              </a:rPr>
              <a:t>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88124701220" y="2834640"/>
            <a:ext cx="-1881264843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</a:rPr>
              <a:t>E2E di produksi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88124701220" y="3337560"/>
            <a:ext cx="-1881264843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Alur kritis diverifikasi di lingkungan nyata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-376250682600" y="1920240"/>
            <a:ext cx="-1881260271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-376250454000" y="2194560"/>
            <a:ext cx="-1881264843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0F172A"/>
                </a:solidFill>
              </a:rPr>
              <a:t>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376250454000" y="2834640"/>
            <a:ext cx="-1881264843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</a:rPr>
              <a:t>Standar ISO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376250454000" y="3337560"/>
            <a:ext cx="-1881264843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27001 (keamanan) · 9241-11 (UX) · 9001 (mutu)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-564376435380" y="1920240"/>
            <a:ext cx="-1881260271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-564376206780" y="2194560"/>
            <a:ext cx="-1881264843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0F172A"/>
                </a:solidFill>
              </a:rPr>
              <a:t>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564376206780" y="2834640"/>
            <a:ext cx="-1881264843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</a:rPr>
              <a:t>Aksesibilitas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-564376206780" y="3337560"/>
            <a:ext cx="-1881264843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Fokus keyboard, kontras ≥ 4,5:1, mode kontras tinggi &amp; gelap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55955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</a:rPr>
              <a:t>🏆  Kunci: bukan prototipe — sistem yang diuji, diamankan, dan siap dipakai harian.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</a:rPr>
              <a:t>PENUTUP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</a:rPr>
              <a:t>Rangkuman &amp; Langkah Berikutnya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>
                <a:solidFill>
                  <a:srgbClr val="2563EB"/>
                </a:solidFill>
              </a:rPr>
              <a:t>1  ·  0  ·  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64748B"/>
                </a:solidFill>
              </a:rPr>
              <a:t>1 aplikasi untuk semua peran · 0 kertas arsip manual · 100% tercatat &amp; bisa diaudit — setiap rupiah, setiap galon, setiap perjalanan.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2336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700">
                <a:solidFill>
                  <a:srgbClr val="64748B"/>
                </a:solidFill>
              </a:rPr>
              <a:t>→  Langkah berikutnya: lengkapi data master (armada, driver, merk), pelatihan singkat per peran, dan prioritas pengembangan berikutnya.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55955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</a:rPr>
              <a:t>🙏  Terima kasih. Siap menjawab pertanyaan dan mendampingi penerapan.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